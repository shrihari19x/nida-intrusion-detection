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faculty. Today I present my deep learning project: 'Network Intrusion Detection Using Autoencoder'. In this work, we address cyber threat detection as an unsupervised anomaly detection task on the NSL-KDD benchmark, training exclusively on normal traffic to detect intrusions based on reconstruction error.</a:t>
            </a:r>
          </a:p>
          <a:p>
            <a:r>
              <a:t>Key Takeaway: A leakage-free, unsupervised deep learning framework for network intrusion detection.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contrast traditional signature-based NIDS with anomaly detection. Signature-based tools and supervised classifiers struggle when facing novel attacks or unlabeled data. Our project asks: can an Autoencoder learn only normal traffic and flag anomalies via reconstruction failure?</a:t>
            </a:r>
          </a:p>
          <a:p>
            <a:r>
              <a:t>Key Takeaway: Anomaly detection shifts the paradigm from chasing attack signatures to establishing a normal baseline.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motivation rests on four pillars: attacks evolve, normal data is abundant, one-class training avoids attack bias, and reconstruction error provides an objective anomaly signal. We emphasize that this approach does not guarantee detection of every stealthy intrusion, but reliably flags traffic that deviates statistically from normal baselines.</a:t>
            </a:r>
          </a:p>
          <a:p>
            <a:r>
              <a:t>Key Takeaway: Normal network traffic offers a rich, self-supervised learning signal for anomaly detection.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six core objectives spanning the entire machine learning lifecycle: leakage-free preprocessing, deep autoencoder modeling, normal-only training, validation-calibrated thresholding, comprehensive benchmark testing, and an operational web demonstration.</a:t>
            </a:r>
          </a:p>
          <a:p>
            <a:r>
              <a:t>Key Takeaway: Clear, verifiable objectives bridging theoretical modeling and practical cybersecurity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presents the NSL-KDD dataset. KDDTrain+ contains 125,973 records, while KDDTest+ contains 22,544 records. The chart on the right shows the verified distribution between normal traffic and attack categories. Crucially, the 41 network traffic features were separated from labels and difficulty scores before any modeling.</a:t>
            </a:r>
          </a:p>
          <a:p>
            <a:r>
              <a:t>Key Takeaway: NSL-KDD provides an established benchmark with realistic feature diversity and novel test attacks.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illustrates our leakage-free preprocessing pipeline. OneHotEncoder processes the 3 categorical attributes, while StandardScaler scales the 38 numerical features. The ColumnTransformer was fitted strictly on normal training data (X_train_normal). Validation and test sets were transformed only, ensuring zero future information leaked into the model.</a:t>
            </a:r>
          </a:p>
          <a:p>
            <a:r>
              <a:t>Key Takeaway: Methodological rigor prevents optimistic bias by fitting preprocessors exclusively on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walks through the end-to-end detection workflow. Raw telemetry is preprocessed into 77 dimensions, passed to the Autoencoder, and reconstructed. The per-sample Mean Squared Error measures reconstruction failure. If error exceeds the threshold of 0.1291, an intrusion alert is triggered; otherwise, it is classified as normal.</a:t>
            </a:r>
          </a:p>
          <a:p>
            <a:r>
              <a:t>Key Takeaway: An elegant, fully automated pipeline from raw network packet telemetry to binary alert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confirmed Dense Autoencoder architecture. Starting with 77 inputs, the encoder compresses through 64 and 32 neurons down to a 16-dimensional bottleneck—a 79.2% compression ratio. The decoder symmetrically expands back to 77 linear output neurons. Total trainable parameters are exactly 15,261, optimized using Adam and MSE loss.</a:t>
            </a:r>
          </a:p>
          <a:p>
            <a:r>
              <a:t>Key Takeaway: The 16-neuron latent bottleneck acts as a compression barrier, preventing anomalies from reconstructing.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demonstrates model training and threshold calibration. On the left, the loss curve shows smooth convergence down to a validation loss of 0.3138 at epoch 8 before early stopping. On the right, we plot the reconstruction error histogram on normal validation records. The threshold of 0.129075 was calibrated as the 95th percentile, mathematically fixing the expected false positive rate to ~5%.</a:t>
            </a:r>
          </a:p>
          <a:p>
            <a:r>
              <a:t>Key Takeaway: The threshold is grounded in validation error percentiles rather than an arbitrary heuristic cutoff.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the core anomaly detection signal. The median reconstruction error for attack traffic (0.4576) is 144.9 times higher than normal traffic (0.0032). The log-scale distribution plot confirms clean separation: normal traffic concentrates heavily to the left of the green threshold line, while the attack distribution shifts decisively to the right.</a:t>
            </a:r>
          </a:p>
          <a:p>
            <a:r>
              <a:t>Key Takeaway: The autoencoder reliably discriminates anomalies due to massive reconstruction error disparities.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summarizes our official test metrics on KDDTest+. The model achieves 83.35% accuracy, an exceptional 96.05% precision, 73.79% recall, and 95.70% ROC-AUC. Crucially, the False Positive Rate is only 4.01%, validating that our 95th percentile validation threshold successfully constrained false alarms in unseen test traffic.</a:t>
            </a:r>
          </a:p>
          <a:p>
            <a:r>
              <a:t>Key Takeaway: High precision (96.05%) prevents alert fatigue while maintaining strong detection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the confusion matrix and ROC curve. On the left, out of 22,544 test connections, we correctly identify 9,322 True Negatives and 9,469 True Positives, with only 389 False Positives. On the right, the ROC curve shows an AUC of 95.70%, with the red dot marking our official operating point at FPR=4.01%, TPR=73.79%.</a:t>
            </a:r>
          </a:p>
          <a:p>
            <a:r>
              <a:t>Key Takeaway: Strong global discriminative power reflected by an ROC-AUC of 95.70%.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breaks down performance across attack families. DoS and Probe are detected reliably at 84.4% and 81.5% because flooding and scanning disrupt host connection rates. In contrast, R2L is the hardest category at 40.15% detection, representing 51.4% of all missed attacks. This occurs because password guessing over valid sessions mimics legitimate telemetry in header metadata.</a:t>
            </a:r>
          </a:p>
          <a:p>
            <a:r>
              <a:t>Key Takeaway: Volumetric and scanning threats are detected easily, while content-based R2L intrusions reveal feature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outlines our Streamlit web application. The system offers single-record analysis with 5 pre-loaded attack presets, batch CSV processing with live throughput, and real-time explainability highlighting the top 5 reconstruction deviations. Importantly, the UI clarifies that reconstruction error is an anomaly measure, not a calibrated attack probability.</a:t>
            </a:r>
          </a:p>
          <a:p>
            <a:r>
              <a:t>Key Takeaway: Operational prototype enabling interactive viva demonstration and batch telemetry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demonstrated that an unsupervised Dense Autoencoder can detect network intrusions with 83.35% accuracy, 96.05% precision, and an ROC-AUC of 95.70% on unseen benchmark traffic. For future work, incorporating payload inspection and sequential modeling will address R2L payload blindspots. Thank you, and I am now ready for questions.</a:t>
            </a:r>
          </a:p>
          <a:p>
            <a:r>
              <a:t>Key Takeaway: A successful, mathematically verified proof-of-concept for unsupervised deep learning intrusion detection.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2926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241280" cy="2011680"/>
          </a:xfrm>
          <a:prstGeom prst="rect">
            <a:avLst/>
          </a:prstGeom>
          <a:noFill/>
        </p:spPr>
        <p:txBody>
          <a:bodyPr wrap="square">
            <a:spAutoFit/>
          </a:bodyPr>
          <a:lstStyle/>
          <a:p>
            <a:pPr>
              <a:defRPr sz="3600" b="1">
                <a:solidFill>
                  <a:srgbClr val="F8FAFC"/>
                </a:solidFill>
              </a:defRPr>
            </a:pPr>
            <a:r>
              <a:t>Network Intrusion Detection Using Autoencoder</a:t>
            </a:r>
          </a:p>
          <a:p>
            <a:pPr>
              <a:spcBef>
                <a:spcPts val="1000"/>
              </a:spcBef>
              <a:defRPr sz="1800">
                <a:solidFill>
                  <a:srgbClr val="38BDF8"/>
                </a:solidFill>
              </a:defRPr>
            </a:pPr>
            <a:r>
              <a:t>An Unsupervised Deep Learning Approach Using the NSL-KDD Dataset</a:t>
            </a:r>
          </a:p>
        </p:txBody>
      </p:sp>
      <p:sp>
        <p:nvSpPr>
          <p:cNvPr id="5" name="Rounded Rectangle 4"/>
          <p:cNvSpPr/>
          <p:nvPr/>
        </p:nvSpPr>
        <p:spPr>
          <a:xfrm>
            <a:off x="1097280" y="3931920"/>
            <a:ext cx="9875520" cy="21031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9326880" cy="1828800"/>
          </a:xfrm>
          <a:prstGeom prst="rect">
            <a:avLst/>
          </a:prstGeom>
          <a:noFill/>
        </p:spPr>
        <p:txBody>
          <a:bodyPr wrap="none">
            <a:spAutoFit/>
          </a:bodyPr>
          <a:lstStyle/>
          <a:p/>
          <a:p>
            <a:r>
              <a:rPr b="1" sz="1200">
                <a:solidFill>
                  <a:srgbClr val="38BDF8"/>
                </a:solidFill>
              </a:rPr>
              <a:t>Candidate Name            : </a:t>
            </a:r>
            <a:r>
              <a:rPr sz="1200">
                <a:solidFill>
                  <a:srgbClr val="F8FAFC"/>
                </a:solidFill>
              </a:rPr>
              <a:t>[Student Name]</a:t>
            </a:r>
          </a:p>
          <a:p>
            <a:r>
              <a:rPr b="1" sz="1200">
                <a:solidFill>
                  <a:srgbClr val="38BDF8"/>
                </a:solidFill>
              </a:rPr>
              <a:t>Roll Number               : </a:t>
            </a:r>
            <a:r>
              <a:rPr sz="1200">
                <a:solidFill>
                  <a:srgbClr val="F8FAFC"/>
                </a:solidFill>
              </a:rPr>
              <a:t>[Roll Number]</a:t>
            </a:r>
          </a:p>
          <a:p>
            <a:r>
              <a:rPr b="1" sz="1200">
                <a:solidFill>
                  <a:srgbClr val="38BDF8"/>
                </a:solidFill>
              </a:rPr>
              <a:t>Program / Specialization  : </a:t>
            </a:r>
            <a:r>
              <a:rPr sz="1200">
                <a:solidFill>
                  <a:srgbClr val="F8FAFC"/>
                </a:solidFill>
              </a:rPr>
              <a:t>MSc Computer Science (AI &amp; ML)</a:t>
            </a:r>
          </a:p>
          <a:p>
            <a:r>
              <a:rPr b="1" sz="1200">
                <a:solidFill>
                  <a:srgbClr val="38BDF8"/>
                </a:solidFill>
              </a:rPr>
              <a:t>Institution               : </a:t>
            </a:r>
            <a:r>
              <a:rPr sz="1200">
                <a:solidFill>
                  <a:srgbClr val="F8FAFC"/>
                </a:solidFill>
              </a:rPr>
              <a:t>[College / University Name]</a:t>
            </a:r>
          </a:p>
          <a:p>
            <a:r>
              <a:rPr b="1" sz="1200">
                <a:solidFill>
                  <a:srgbClr val="38BDF8"/>
                </a:solidFill>
              </a:rPr>
              <a:t>Project Supervisor        : </a:t>
            </a:r>
            <a:r>
              <a:rPr sz="1200">
                <a:solidFill>
                  <a:srgbClr val="F8FAFC"/>
                </a:solidFill>
              </a:rPr>
              <a:t>[Guide / Supervisor Name]</a:t>
            </a:r>
          </a:p>
          <a:p>
            <a:r>
              <a:rPr b="1" sz="1200">
                <a:solidFill>
                  <a:srgbClr val="38BDF8"/>
                </a:solidFill>
              </a:rPr>
              <a:t>Academic Year             : </a:t>
            </a:r>
            <a:r>
              <a:rPr sz="1200">
                <a:solidFill>
                  <a:srgbClr val="F8FAFC"/>
                </a:solidFill>
              </a:rPr>
              <a:t>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Problem Statement: The Challenge of Network Intrusion Detection</a:t>
            </a:r>
          </a:p>
        </p:txBody>
      </p:sp>
      <p:sp>
        <p:nvSpPr>
          <p:cNvPr id="5" name="Rounded Rectangle 4"/>
          <p:cNvSpPr/>
          <p:nvPr/>
        </p:nvSpPr>
        <p:spPr>
          <a:xfrm>
            <a:off x="731520" y="1554480"/>
            <a:ext cx="5120640" cy="46634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65760"/>
          </a:xfrm>
          <a:prstGeom prst="rect">
            <a:avLst/>
          </a:prstGeom>
          <a:noFill/>
        </p:spPr>
        <p:txBody>
          <a:bodyPr wrap="none">
            <a:spAutoFit/>
          </a:bodyPr>
          <a:lstStyle/>
          <a:p>
            <a:pPr>
              <a:defRPr sz="1300" b="1">
                <a:solidFill>
                  <a:srgbClr val="38BDF8"/>
                </a:solidFill>
              </a:defRPr>
            </a:pPr>
            <a:r>
              <a:t>Traditional NIDS Limitations</a:t>
            </a:r>
          </a:p>
        </p:txBody>
      </p:sp>
      <p:sp>
        <p:nvSpPr>
          <p:cNvPr id="7" name="TextBox 6"/>
          <p:cNvSpPr txBox="1"/>
          <p:nvPr/>
        </p:nvSpPr>
        <p:spPr>
          <a:xfrm>
            <a:off x="914400" y="2103120"/>
            <a:ext cx="4754880" cy="3931920"/>
          </a:xfrm>
          <a:prstGeom prst="rect">
            <a:avLst/>
          </a:prstGeom>
          <a:noFill/>
        </p:spPr>
        <p:txBody>
          <a:bodyPr wrap="square">
            <a:spAutoFit/>
          </a:bodyPr>
          <a:lstStyle/>
          <a:p/>
          <a:p>
            <a:pPr>
              <a:spcAft>
                <a:spcPts val="1000"/>
              </a:spcAft>
            </a:pPr>
            <a:r>
              <a:rPr b="1" sz="1200">
                <a:solidFill>
                  <a:srgbClr val="EF4444"/>
                </a:solidFill>
              </a:rPr>
              <a:t>• Signature-Based Vulnerability: </a:t>
            </a:r>
            <a:r>
              <a:rPr sz="1150">
                <a:solidFill>
                  <a:srgbClr val="F8FAFC"/>
                </a:solidFill>
              </a:rPr>
              <a:t>Conventional systems rely on pre-compiled databases of known attack signatures (e.g., Snort rules).</a:t>
            </a:r>
          </a:p>
          <a:p>
            <a:pPr>
              <a:spcAft>
                <a:spcPts val="1000"/>
              </a:spcAft>
            </a:pPr>
            <a:r>
              <a:rPr b="1" sz="1200">
                <a:solidFill>
                  <a:srgbClr val="EF4444"/>
                </a:solidFill>
              </a:rPr>
              <a:t>• Zero-Day Blindspot: </a:t>
            </a:r>
            <a:r>
              <a:rPr sz="1150">
                <a:solidFill>
                  <a:srgbClr val="F8FAFC"/>
                </a:solidFill>
              </a:rPr>
              <a:t>Novel attack variants and modified payloads bypass static pattern-matching rules effortlessly.</a:t>
            </a:r>
          </a:p>
          <a:p>
            <a:pPr>
              <a:spcAft>
                <a:spcPts val="1000"/>
              </a:spcAft>
            </a:pPr>
            <a:r>
              <a:rPr b="1" sz="1200">
                <a:solidFill>
                  <a:srgbClr val="EF4444"/>
                </a:solidFill>
              </a:rPr>
              <a:t>• Supervised ML Bottleneck: </a:t>
            </a:r>
            <a:r>
              <a:rPr sz="1150">
                <a:solidFill>
                  <a:srgbClr val="F8FAFC"/>
                </a:solidFill>
              </a:rPr>
              <a:t>Supervised models require vast, balanced, perfectly labeled datasets containing all conceivable attack types.</a:t>
            </a:r>
          </a:p>
          <a:p>
            <a:pPr>
              <a:spcAft>
                <a:spcPts val="1000"/>
              </a:spcAft>
            </a:pPr>
            <a:r>
              <a:rPr b="1" sz="1200">
                <a:solidFill>
                  <a:srgbClr val="EF4444"/>
                </a:solidFill>
              </a:rPr>
              <a:t>• Labeling Cost &amp; Delay: </a:t>
            </a:r>
            <a:r>
              <a:rPr sz="1150">
                <a:solidFill>
                  <a:srgbClr val="F8FAFC"/>
                </a:solidFill>
              </a:rPr>
              <a:t>Accurate cyberattack labeling in live enterprise networks is expensive, labor-intensive, and fundamentally reactive.</a:t>
            </a:r>
          </a:p>
        </p:txBody>
      </p:sp>
      <p:sp>
        <p:nvSpPr>
          <p:cNvPr id="8" name="Rounded Rectangle 7"/>
          <p:cNvSpPr/>
          <p:nvPr/>
        </p:nvSpPr>
        <p:spPr>
          <a:xfrm>
            <a:off x="6217920" y="1554480"/>
            <a:ext cx="5212080" cy="46634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4846320" cy="365760"/>
          </a:xfrm>
          <a:prstGeom prst="rect">
            <a:avLst/>
          </a:prstGeom>
          <a:noFill/>
        </p:spPr>
        <p:txBody>
          <a:bodyPr wrap="none">
            <a:spAutoFit/>
          </a:bodyPr>
          <a:lstStyle/>
          <a:p>
            <a:pPr>
              <a:defRPr sz="1300" b="1">
                <a:solidFill>
                  <a:srgbClr val="38BDF8"/>
                </a:solidFill>
              </a:defRPr>
            </a:pPr>
            <a:r>
              <a:t>The Anomaly Detection Alternative</a:t>
            </a:r>
          </a:p>
        </p:txBody>
      </p:sp>
      <p:sp>
        <p:nvSpPr>
          <p:cNvPr id="10" name="TextBox 9"/>
          <p:cNvSpPr txBox="1"/>
          <p:nvPr/>
        </p:nvSpPr>
        <p:spPr>
          <a:xfrm>
            <a:off x="6400800" y="2103120"/>
            <a:ext cx="4846320" cy="3931920"/>
          </a:xfrm>
          <a:prstGeom prst="rect">
            <a:avLst/>
          </a:prstGeom>
          <a:noFill/>
        </p:spPr>
        <p:txBody>
          <a:bodyPr wrap="square">
            <a:spAutoFit/>
          </a:bodyPr>
          <a:lstStyle/>
          <a:p/>
          <a:p>
            <a:pPr>
              <a:spcAft>
                <a:spcPts val="1000"/>
              </a:spcAft>
            </a:pPr>
            <a:r>
              <a:rPr b="1" sz="1200">
                <a:solidFill>
                  <a:srgbClr val="10B981"/>
                </a:solidFill>
              </a:rPr>
              <a:t>• The Unsupervised Paradigm: </a:t>
            </a:r>
            <a:r>
              <a:rPr sz="1150">
                <a:solidFill>
                  <a:srgbClr val="F8FAFC"/>
                </a:solidFill>
              </a:rPr>
              <a:t>Rather than modeling every attack, learn what legitimate, normal traffic looks like.</a:t>
            </a:r>
          </a:p>
          <a:p>
            <a:pPr>
              <a:spcAft>
                <a:spcPts val="1000"/>
              </a:spcAft>
            </a:pPr>
            <a:r>
              <a:rPr b="1" sz="1200">
                <a:solidFill>
                  <a:srgbClr val="10B981"/>
                </a:solidFill>
              </a:rPr>
              <a:t>• Deep Autoencoder Representation: </a:t>
            </a:r>
            <a:r>
              <a:rPr sz="1150">
                <a:solidFill>
                  <a:srgbClr val="F8FAFC"/>
                </a:solidFill>
              </a:rPr>
              <a:t>Compress normal telemetry into a low-dimensional manifold and learn to reconstruct it.</a:t>
            </a:r>
          </a:p>
          <a:p>
            <a:pPr>
              <a:spcAft>
                <a:spcPts val="1000"/>
              </a:spcAft>
            </a:pPr>
            <a:r>
              <a:rPr b="1" sz="1200">
                <a:solidFill>
                  <a:srgbClr val="10B981"/>
                </a:solidFill>
              </a:rPr>
              <a:t>• Reconstruction Discrepancy: </a:t>
            </a:r>
            <a:r>
              <a:rPr sz="1150">
                <a:solidFill>
                  <a:srgbClr val="F8FAFC"/>
                </a:solidFill>
              </a:rPr>
              <a:t>Anomalous traffic that deviates from normal statistical patterns cannot be reconstructed faithfully.</a:t>
            </a:r>
          </a:p>
          <a:p>
            <a:pPr>
              <a:spcAft>
                <a:spcPts val="1000"/>
              </a:spcAft>
            </a:pPr>
            <a:r>
              <a:rPr b="1" sz="1200">
                <a:solidFill>
                  <a:srgbClr val="10B981"/>
                </a:solidFill>
              </a:rPr>
              <a:t>• Core Research Question: </a:t>
            </a:r>
            <a:r>
              <a:rPr sz="1150">
                <a:solidFill>
                  <a:srgbClr val="F8FAFC"/>
                </a:solidFill>
              </a:rPr>
              <a:t>Can an unsupervised Dense Autoencoder achieve high detection precision on unseen attacks while keeping false alarms strictly bounded?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Project Motivation: Why Reconstruction-Based Anomaly Detection?</a:t>
            </a:r>
          </a:p>
        </p:txBody>
      </p:sp>
      <p:sp>
        <p:nvSpPr>
          <p:cNvPr id="5" name="Rounded Rectangle 4"/>
          <p:cNvSpPr/>
          <p:nvPr/>
        </p:nvSpPr>
        <p:spPr>
          <a:xfrm>
            <a:off x="731520" y="1554480"/>
            <a:ext cx="5120640" cy="21031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65760"/>
          </a:xfrm>
          <a:prstGeom prst="rect">
            <a:avLst/>
          </a:prstGeom>
          <a:noFill/>
        </p:spPr>
        <p:txBody>
          <a:bodyPr wrap="none">
            <a:spAutoFit/>
          </a:bodyPr>
          <a:lstStyle/>
          <a:p>
            <a:pPr>
              <a:defRPr sz="1300" b="1">
                <a:solidFill>
                  <a:srgbClr val="38BDF8"/>
                </a:solidFill>
              </a:defRPr>
            </a:pPr>
            <a:r>
              <a:t>1. Dynamic Threat Landscape</a:t>
            </a:r>
          </a:p>
        </p:txBody>
      </p:sp>
      <p:sp>
        <p:nvSpPr>
          <p:cNvPr id="7" name="TextBox 6"/>
          <p:cNvSpPr txBox="1"/>
          <p:nvPr/>
        </p:nvSpPr>
        <p:spPr>
          <a:xfrm>
            <a:off x="960120" y="2194560"/>
            <a:ext cx="4663440" cy="1280160"/>
          </a:xfrm>
          <a:prstGeom prst="rect">
            <a:avLst/>
          </a:prstGeom>
          <a:noFill/>
        </p:spPr>
        <p:txBody>
          <a:bodyPr wrap="square">
            <a:spAutoFit/>
          </a:bodyPr>
          <a:lstStyle/>
          <a:p>
            <a:pPr>
              <a:defRPr sz="1250">
                <a:solidFill>
                  <a:srgbClr val="F8FAFC"/>
                </a:solidFill>
              </a:defRPr>
            </a:pPr>
            <a:r>
              <a:t>Cyberattacks constantly evolve through obfuscation, polymorphic payloads, and novel exploitation vectors, rendering static rule engines obsolete.</a:t>
            </a:r>
          </a:p>
        </p:txBody>
      </p:sp>
      <p:sp>
        <p:nvSpPr>
          <p:cNvPr id="8" name="Rounded Rectangle 7"/>
          <p:cNvSpPr/>
          <p:nvPr/>
        </p:nvSpPr>
        <p:spPr>
          <a:xfrm>
            <a:off x="6126480" y="1554480"/>
            <a:ext cx="5120640" cy="21031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91640"/>
            <a:ext cx="4754880" cy="365760"/>
          </a:xfrm>
          <a:prstGeom prst="rect">
            <a:avLst/>
          </a:prstGeom>
          <a:noFill/>
        </p:spPr>
        <p:txBody>
          <a:bodyPr wrap="none">
            <a:spAutoFit/>
          </a:bodyPr>
          <a:lstStyle/>
          <a:p>
            <a:pPr>
              <a:defRPr sz="1300" b="1">
                <a:solidFill>
                  <a:srgbClr val="38BDF8"/>
                </a:solidFill>
              </a:defRPr>
            </a:pPr>
            <a:r>
              <a:t>2. Natural Abundance of Normal Telemetry</a:t>
            </a:r>
          </a:p>
        </p:txBody>
      </p:sp>
      <p:sp>
        <p:nvSpPr>
          <p:cNvPr id="10" name="TextBox 9"/>
          <p:cNvSpPr txBox="1"/>
          <p:nvPr/>
        </p:nvSpPr>
        <p:spPr>
          <a:xfrm>
            <a:off x="6355080" y="2194560"/>
            <a:ext cx="4663440" cy="1280160"/>
          </a:xfrm>
          <a:prstGeom prst="rect">
            <a:avLst/>
          </a:prstGeom>
          <a:noFill/>
        </p:spPr>
        <p:txBody>
          <a:bodyPr wrap="square">
            <a:spAutoFit/>
          </a:bodyPr>
          <a:lstStyle/>
          <a:p>
            <a:pPr>
              <a:defRPr sz="1250">
                <a:solidFill>
                  <a:srgbClr val="F8FAFC"/>
                </a:solidFill>
              </a:defRPr>
            </a:pPr>
            <a:r>
              <a:t>In production networks, over 99% of raw network packets represent benign user traffic. Normal traffic provides an abundant, reliable baseline.</a:t>
            </a:r>
          </a:p>
        </p:txBody>
      </p:sp>
      <p:sp>
        <p:nvSpPr>
          <p:cNvPr id="11" name="Rounded Rectangle 10"/>
          <p:cNvSpPr/>
          <p:nvPr/>
        </p:nvSpPr>
        <p:spPr>
          <a:xfrm>
            <a:off x="731520" y="3931920"/>
            <a:ext cx="5120640" cy="2103120"/>
          </a:xfrm>
          <a:prstGeom prst="roundRect">
            <a:avLst/>
          </a:prstGeom>
          <a:solidFill>
            <a:srgbClr val="1E29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65760"/>
          </a:xfrm>
          <a:prstGeom prst="rect">
            <a:avLst/>
          </a:prstGeom>
          <a:noFill/>
        </p:spPr>
        <p:txBody>
          <a:bodyPr wrap="none">
            <a:spAutoFit/>
          </a:bodyPr>
          <a:lstStyle/>
          <a:p>
            <a:pPr>
              <a:defRPr sz="1300" b="1">
                <a:solidFill>
                  <a:srgbClr val="38BDF8"/>
                </a:solidFill>
              </a:defRPr>
            </a:pPr>
            <a:r>
              <a:t>3. Zero-Contamination One-Class Learning</a:t>
            </a:r>
          </a:p>
        </p:txBody>
      </p:sp>
      <p:sp>
        <p:nvSpPr>
          <p:cNvPr id="13" name="TextBox 12"/>
          <p:cNvSpPr txBox="1"/>
          <p:nvPr/>
        </p:nvSpPr>
        <p:spPr>
          <a:xfrm>
            <a:off x="960120" y="4572000"/>
            <a:ext cx="4663440" cy="1280160"/>
          </a:xfrm>
          <a:prstGeom prst="rect">
            <a:avLst/>
          </a:prstGeom>
          <a:noFill/>
        </p:spPr>
        <p:txBody>
          <a:bodyPr wrap="square">
            <a:spAutoFit/>
          </a:bodyPr>
          <a:lstStyle/>
          <a:p>
            <a:pPr>
              <a:defRPr sz="1250">
                <a:solidFill>
                  <a:srgbClr val="F8FAFC"/>
                </a:solidFill>
              </a:defRPr>
            </a:pPr>
            <a:r>
              <a:t>Training strictly on normal traffic eliminates the risk of model bias toward specific attack families represented in training sets.</a:t>
            </a:r>
          </a:p>
        </p:txBody>
      </p:sp>
      <p:sp>
        <p:nvSpPr>
          <p:cNvPr id="14" name="Rounded Rectangle 13"/>
          <p:cNvSpPr/>
          <p:nvPr/>
        </p:nvSpPr>
        <p:spPr>
          <a:xfrm>
            <a:off x="6126480" y="3931920"/>
            <a:ext cx="5120640" cy="21031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069080"/>
            <a:ext cx="4754880" cy="365760"/>
          </a:xfrm>
          <a:prstGeom prst="rect">
            <a:avLst/>
          </a:prstGeom>
          <a:noFill/>
        </p:spPr>
        <p:txBody>
          <a:bodyPr wrap="none">
            <a:spAutoFit/>
          </a:bodyPr>
          <a:lstStyle/>
          <a:p>
            <a:pPr>
              <a:defRPr sz="1300" b="1">
                <a:solidFill>
                  <a:srgbClr val="38BDF8"/>
                </a:solidFill>
              </a:defRPr>
            </a:pPr>
            <a:r>
              <a:t>4. Objective Metric for Alerting</a:t>
            </a:r>
          </a:p>
        </p:txBody>
      </p:sp>
      <p:sp>
        <p:nvSpPr>
          <p:cNvPr id="16" name="TextBox 15"/>
          <p:cNvSpPr txBox="1"/>
          <p:nvPr/>
        </p:nvSpPr>
        <p:spPr>
          <a:xfrm>
            <a:off x="6355080" y="4572000"/>
            <a:ext cx="4663440" cy="1280160"/>
          </a:xfrm>
          <a:prstGeom prst="rect">
            <a:avLst/>
          </a:prstGeom>
          <a:noFill/>
        </p:spPr>
        <p:txBody>
          <a:bodyPr wrap="square">
            <a:spAutoFit/>
          </a:bodyPr>
          <a:lstStyle/>
          <a:p>
            <a:pPr>
              <a:defRPr sz="1250">
                <a:solidFill>
                  <a:srgbClr val="F8FAFC"/>
                </a:solidFill>
              </a:defRPr>
            </a:pPr>
            <a:r>
              <a:t>Reconstruction Mean Squared Error (MSE) provides a continuous, interpretable score measuring statistical deviation from normal behavior.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Project Objectives: Research &amp; Engineering Goals</a:t>
            </a:r>
          </a:p>
        </p:txBody>
      </p:sp>
      <p:sp>
        <p:nvSpPr>
          <p:cNvPr id="5" name="Rounded Rectangle 4"/>
          <p:cNvSpPr/>
          <p:nvPr/>
        </p:nvSpPr>
        <p:spPr>
          <a:xfrm>
            <a:off x="731520" y="1463040"/>
            <a:ext cx="10698480" cy="7315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36192"/>
            <a:ext cx="10332720" cy="594360"/>
          </a:xfrm>
          <a:prstGeom prst="rect">
            <a:avLst/>
          </a:prstGeom>
          <a:noFill/>
        </p:spPr>
        <p:txBody>
          <a:bodyPr wrap="square">
            <a:spAutoFit/>
          </a:bodyPr>
          <a:lstStyle/>
          <a:p>
            <a:r>
              <a:rPr b="1" sz="1150">
                <a:solidFill>
                  <a:srgbClr val="38BDF8"/>
                </a:solidFill>
              </a:rPr>
              <a:t>1. Design Leakage-Free Preprocessing Pipeline: </a:t>
            </a:r>
            <a:r>
              <a:rPr sz="1050">
                <a:solidFill>
                  <a:srgbClr val="F8FAFC"/>
                </a:solidFill>
              </a:rPr>
              <a:t>Construct a ColumnTransformer pipeline that standardizes 38 numerical features and one-hot encodes 3 categorical features, fitted strictly on normal training data without test contamination.</a:t>
            </a:r>
          </a:p>
        </p:txBody>
      </p:sp>
      <p:sp>
        <p:nvSpPr>
          <p:cNvPr id="7" name="Rounded Rectangle 6"/>
          <p:cNvSpPr/>
          <p:nvPr/>
        </p:nvSpPr>
        <p:spPr>
          <a:xfrm>
            <a:off x="731520" y="2286000"/>
            <a:ext cx="10698480" cy="7315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59152"/>
            <a:ext cx="10332720" cy="594360"/>
          </a:xfrm>
          <a:prstGeom prst="rect">
            <a:avLst/>
          </a:prstGeom>
          <a:noFill/>
        </p:spPr>
        <p:txBody>
          <a:bodyPr wrap="square">
            <a:spAutoFit/>
          </a:bodyPr>
          <a:lstStyle/>
          <a:p>
            <a:r>
              <a:rPr b="1" sz="1150">
                <a:solidFill>
                  <a:srgbClr val="38BDF8"/>
                </a:solidFill>
              </a:rPr>
              <a:t>2. Develop Symmetric Dense Autoencoder Architecture: </a:t>
            </a:r>
            <a:r>
              <a:rPr sz="1050">
                <a:solidFill>
                  <a:srgbClr val="F8FAFC"/>
                </a:solidFill>
              </a:rPr>
              <a:t>Design a multi-stage fully connected autoencoder (77 -&gt; 64 -&gt; 32 -&gt; 16 -&gt; 32 -&gt; 64 -&gt; 77) with a 16-dimensional bottleneck to force optimal feature compression.</a:t>
            </a:r>
          </a:p>
        </p:txBody>
      </p:sp>
      <p:sp>
        <p:nvSpPr>
          <p:cNvPr id="9" name="Rounded Rectangle 8"/>
          <p:cNvSpPr/>
          <p:nvPr/>
        </p:nvSpPr>
        <p:spPr>
          <a:xfrm>
            <a:off x="731520" y="3108960"/>
            <a:ext cx="10698480" cy="7315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82112"/>
            <a:ext cx="10332720" cy="594360"/>
          </a:xfrm>
          <a:prstGeom prst="rect">
            <a:avLst/>
          </a:prstGeom>
          <a:noFill/>
        </p:spPr>
        <p:txBody>
          <a:bodyPr wrap="square">
            <a:spAutoFit/>
          </a:bodyPr>
          <a:lstStyle/>
          <a:p>
            <a:r>
              <a:rPr b="1" sz="1150">
                <a:solidFill>
                  <a:srgbClr val="38BDF8"/>
                </a:solidFill>
              </a:rPr>
              <a:t>3. Implement Unsupervised Normal-Only Training: </a:t>
            </a:r>
            <a:r>
              <a:rPr sz="1050">
                <a:solidFill>
                  <a:srgbClr val="F8FAFC"/>
                </a:solidFill>
              </a:rPr>
              <a:t>Train the network exclusively on benign records from KDDTrain+ using Adam and MSE loss, completely isolating attack records during model parameter fitting.</a:t>
            </a:r>
          </a:p>
        </p:txBody>
      </p:sp>
      <p:sp>
        <p:nvSpPr>
          <p:cNvPr id="11" name="Rounded Rectangle 10"/>
          <p:cNvSpPr/>
          <p:nvPr/>
        </p:nvSpPr>
        <p:spPr>
          <a:xfrm>
            <a:off x="731520" y="3931920"/>
            <a:ext cx="10698480" cy="7315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05072"/>
            <a:ext cx="10332720" cy="594360"/>
          </a:xfrm>
          <a:prstGeom prst="rect">
            <a:avLst/>
          </a:prstGeom>
          <a:noFill/>
        </p:spPr>
        <p:txBody>
          <a:bodyPr wrap="square">
            <a:spAutoFit/>
          </a:bodyPr>
          <a:lstStyle/>
          <a:p>
            <a:r>
              <a:rPr b="1" sz="1150">
                <a:solidFill>
                  <a:srgbClr val="38BDF8"/>
                </a:solidFill>
              </a:rPr>
              <a:t>4. Derive Principled Anomaly Decision Threshold: </a:t>
            </a:r>
            <a:r>
              <a:rPr sz="1050">
                <a:solidFill>
                  <a:srgbClr val="F8FAFC"/>
                </a:solidFill>
              </a:rPr>
              <a:t>Empirically select the decision boundary as the 95th percentile of normal validation reconstruction errors, guaranteeing a reference false-positive rate of ~5%.</a:t>
            </a:r>
          </a:p>
        </p:txBody>
      </p:sp>
      <p:sp>
        <p:nvSpPr>
          <p:cNvPr id="13" name="Rounded Rectangle 12"/>
          <p:cNvSpPr/>
          <p:nvPr/>
        </p:nvSpPr>
        <p:spPr>
          <a:xfrm>
            <a:off x="731520" y="4754880"/>
            <a:ext cx="10698480" cy="7315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28032"/>
            <a:ext cx="10332720" cy="594360"/>
          </a:xfrm>
          <a:prstGeom prst="rect">
            <a:avLst/>
          </a:prstGeom>
          <a:noFill/>
        </p:spPr>
        <p:txBody>
          <a:bodyPr wrap="square">
            <a:spAutoFit/>
          </a:bodyPr>
          <a:lstStyle/>
          <a:p>
            <a:r>
              <a:rPr b="1" sz="1150">
                <a:solidFill>
                  <a:srgbClr val="38BDF8"/>
                </a:solidFill>
              </a:rPr>
              <a:t>5. Rigorous Evaluation on Unseen KDDTest+ Benchmark: </a:t>
            </a:r>
            <a:r>
              <a:rPr sz="1050">
                <a:solidFill>
                  <a:srgbClr val="F8FAFC"/>
                </a:solidFill>
              </a:rPr>
              <a:t>Quantify real-world generalization across 22,544 untouched test records, evaluating Accuracy, Precision, Recall, F1, ROC-AUC, and attack-family sensitivity.</a:t>
            </a:r>
          </a:p>
        </p:txBody>
      </p:sp>
      <p:sp>
        <p:nvSpPr>
          <p:cNvPr id="15" name="Rounded Rectangle 14"/>
          <p:cNvSpPr/>
          <p:nvPr/>
        </p:nvSpPr>
        <p:spPr>
          <a:xfrm>
            <a:off x="731520" y="5577840"/>
            <a:ext cx="10698480" cy="7315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594360"/>
          </a:xfrm>
          <a:prstGeom prst="rect">
            <a:avLst/>
          </a:prstGeom>
          <a:noFill/>
        </p:spPr>
        <p:txBody>
          <a:bodyPr wrap="square">
            <a:spAutoFit/>
          </a:bodyPr>
          <a:lstStyle/>
          <a:p>
            <a:r>
              <a:rPr b="1" sz="1150">
                <a:solidFill>
                  <a:srgbClr val="38BDF8"/>
                </a:solidFill>
              </a:rPr>
              <a:t>6. Deploy Operational Streamlit Application: </a:t>
            </a:r>
            <a:r>
              <a:rPr sz="1050">
                <a:solidFill>
                  <a:srgbClr val="F8FAFC"/>
                </a:solidFill>
              </a:rPr>
              <a:t>Deliver an interactive cybersecurity dashboard supporting single-connection diagnostic inspection, batch CSV inference, and real-time feature deviation explanations.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Dataset: NSL-KDD Benchmark Characteristics</a:t>
            </a:r>
          </a:p>
        </p:txBody>
      </p:sp>
      <p:sp>
        <p:nvSpPr>
          <p:cNvPr id="5" name="Rounded Rectangle 4"/>
          <p:cNvSpPr/>
          <p:nvPr/>
        </p:nvSpPr>
        <p:spPr>
          <a:xfrm>
            <a:off x="731520" y="1554480"/>
            <a:ext cx="512064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65760"/>
          </a:xfrm>
          <a:prstGeom prst="rect">
            <a:avLst/>
          </a:prstGeom>
          <a:noFill/>
        </p:spPr>
        <p:txBody>
          <a:bodyPr wrap="none">
            <a:spAutoFit/>
          </a:bodyPr>
          <a:lstStyle/>
          <a:p>
            <a:pPr>
              <a:defRPr sz="1300" b="1">
                <a:solidFill>
                  <a:srgbClr val="38BDF8"/>
                </a:solidFill>
              </a:defRPr>
            </a:pPr>
            <a:r>
              <a:t>Dataset Structure &amp; Splits</a:t>
            </a:r>
          </a:p>
        </p:txBody>
      </p:sp>
      <p:sp>
        <p:nvSpPr>
          <p:cNvPr id="7" name="TextBox 6"/>
          <p:cNvSpPr txBox="1"/>
          <p:nvPr/>
        </p:nvSpPr>
        <p:spPr>
          <a:xfrm>
            <a:off x="914400" y="2011680"/>
            <a:ext cx="4754880" cy="4114800"/>
          </a:xfrm>
          <a:prstGeom prst="rect">
            <a:avLst/>
          </a:prstGeom>
          <a:noFill/>
        </p:spPr>
        <p:txBody>
          <a:bodyPr wrap="square">
            <a:spAutoFit/>
          </a:bodyPr>
          <a:lstStyle/>
          <a:p/>
          <a:p>
            <a:pPr>
              <a:spcAft>
                <a:spcPts val="400"/>
              </a:spcAft>
            </a:pPr>
            <a:r>
              <a:rPr b="1" sz="1100">
                <a:solidFill>
                  <a:srgbClr val="38BDF8"/>
                </a:solidFill>
              </a:rPr>
              <a:t>• Benchmark Name: </a:t>
            </a:r>
            <a:r>
              <a:rPr sz="1050">
                <a:solidFill>
                  <a:srgbClr val="F8FAFC"/>
                </a:solidFill>
              </a:rPr>
              <a:t>NSL-KDD (Refined KDD Cup 99 without duplicates)</a:t>
            </a:r>
          </a:p>
          <a:p>
            <a:pPr>
              <a:spcAft>
                <a:spcPts val="400"/>
              </a:spcAft>
            </a:pPr>
            <a:r>
              <a:rPr b="1" sz="1100">
                <a:solidFill>
                  <a:srgbClr val="38BDF8"/>
                </a:solidFill>
              </a:rPr>
              <a:t>• Training Set (KDDTrain+): </a:t>
            </a:r>
            <a:r>
              <a:rPr sz="1050">
                <a:solidFill>
                  <a:srgbClr val="F8FAFC"/>
                </a:solidFill>
              </a:rPr>
              <a:t>125,973 records (67,343 Normal, 58,630 Attacks)</a:t>
            </a:r>
          </a:p>
          <a:p>
            <a:pPr>
              <a:spcAft>
                <a:spcPts val="400"/>
              </a:spcAft>
            </a:pPr>
            <a:r>
              <a:rPr b="1" sz="1100">
                <a:solidFill>
                  <a:srgbClr val="38BDF8"/>
                </a:solidFill>
              </a:rPr>
              <a:t>• Unseen Test Set (KDDTest+): </a:t>
            </a:r>
            <a:r>
              <a:rPr sz="1050">
                <a:solidFill>
                  <a:srgbClr val="F8FAFC"/>
                </a:solidFill>
              </a:rPr>
              <a:t>22,544 records (9,711 Normal, 12,833 Attacks)</a:t>
            </a:r>
          </a:p>
          <a:p>
            <a:pPr>
              <a:spcAft>
                <a:spcPts val="400"/>
              </a:spcAft>
            </a:pPr>
            <a:r>
              <a:rPr b="1" sz="1100">
                <a:solidFill>
                  <a:srgbClr val="38BDF8"/>
                </a:solidFill>
              </a:rPr>
              <a:t>• Original Traffic Features: </a:t>
            </a:r>
            <a:r>
              <a:rPr sz="1050">
                <a:solidFill>
                  <a:srgbClr val="F8FAFC"/>
                </a:solidFill>
              </a:rPr>
              <a:t>41 Features (3 Categorical, 38 Numerical)</a:t>
            </a:r>
          </a:p>
          <a:p>
            <a:pPr>
              <a:spcAft>
                <a:spcPts val="400"/>
              </a:spcAft>
            </a:pPr>
            <a:r>
              <a:rPr b="1" sz="1100">
                <a:solidFill>
                  <a:srgbClr val="38BDF8"/>
                </a:solidFill>
              </a:rPr>
              <a:t>• Categorical Fields: </a:t>
            </a:r>
            <a:r>
              <a:rPr sz="1050">
                <a:solidFill>
                  <a:srgbClr val="F8FAFC"/>
                </a:solidFill>
              </a:rPr>
              <a:t>protocol_type (3), service (70), flag (11)</a:t>
            </a:r>
          </a:p>
          <a:p>
            <a:pPr>
              <a:spcAft>
                <a:spcPts val="400"/>
              </a:spcAft>
            </a:pPr>
            <a:r>
              <a:rPr b="1" sz="1100">
                <a:solidFill>
                  <a:srgbClr val="38BDF8"/>
                </a:solidFill>
              </a:rPr>
              <a:t>• Numerical Fields: </a:t>
            </a:r>
            <a:r>
              <a:rPr sz="1050">
                <a:solidFill>
                  <a:srgbClr val="F8FAFC"/>
                </a:solidFill>
              </a:rPr>
              <a:t>Duration, byte counts, error rates, host statistics</a:t>
            </a:r>
          </a:p>
          <a:p>
            <a:pPr>
              <a:spcAft>
                <a:spcPts val="400"/>
              </a:spcAft>
            </a:pPr>
            <a:r>
              <a:rPr b="1" sz="1100">
                <a:solidFill>
                  <a:srgbClr val="38BDF8"/>
                </a:solidFill>
              </a:rPr>
              <a:t>• Metadata Columns (Isolated): </a:t>
            </a:r>
            <a:r>
              <a:rPr sz="1050">
                <a:solidFill>
                  <a:srgbClr val="F8FAFC"/>
                </a:solidFill>
              </a:rPr>
              <a:t>label (specific attack), difficulty_level (score)</a:t>
            </a:r>
          </a:p>
          <a:p>
            <a:pPr>
              <a:spcAft>
                <a:spcPts val="400"/>
              </a:spcAft>
            </a:pPr>
            <a:r>
              <a:rPr b="1" sz="1100">
                <a:solidFill>
                  <a:srgbClr val="38BDF8"/>
                </a:solidFill>
              </a:rPr>
              <a:t>• Attack Taxonomy: </a:t>
            </a:r>
            <a:r>
              <a:rPr sz="1050">
                <a:solidFill>
                  <a:srgbClr val="F8FAFC"/>
                </a:solidFill>
              </a:rPr>
              <a:t>DoS, Probe, R2L, U2R (38 distinct attack types)</a:t>
            </a:r>
          </a:p>
        </p:txBody>
      </p:sp>
      <p:sp>
        <p:nvSpPr>
          <p:cNvPr id="8" name="Rounded Rectangle 7"/>
          <p:cNvSpPr/>
          <p:nvPr/>
        </p:nvSpPr>
        <p:spPr>
          <a:xfrm>
            <a:off x="6126480" y="1554480"/>
            <a:ext cx="53035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91640"/>
            <a:ext cx="4937760" cy="365760"/>
          </a:xfrm>
          <a:prstGeom prst="rect">
            <a:avLst/>
          </a:prstGeom>
          <a:noFill/>
        </p:spPr>
        <p:txBody>
          <a:bodyPr wrap="none">
            <a:spAutoFit/>
          </a:bodyPr>
          <a:lstStyle/>
          <a:p>
            <a:pPr>
              <a:defRPr sz="1300" b="1">
                <a:solidFill>
                  <a:srgbClr val="38BDF8"/>
                </a:solidFill>
              </a:defRPr>
            </a:pPr>
            <a:r>
              <a:t>Traffic Label Distribution</a:t>
            </a:r>
          </a:p>
        </p:txBody>
      </p:sp>
      <p:pic>
        <p:nvPicPr>
          <p:cNvPr id="10" name="Picture 9" descr="label_distribution.png"/>
          <p:cNvPicPr>
            <a:picLocks noChangeAspect="1"/>
          </p:cNvPicPr>
          <p:nvPr/>
        </p:nvPicPr>
        <p:blipFill>
          <a:blip r:embed="rId2"/>
          <a:stretch>
            <a:fillRect/>
          </a:stretch>
        </p:blipFill>
        <p:spPr>
          <a:xfrm>
            <a:off x="6309360" y="2103120"/>
            <a:ext cx="4937760" cy="20574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Data Preprocessing: Strict Leakage-Free Pipeline</a:t>
            </a:r>
          </a:p>
        </p:txBody>
      </p:sp>
      <p:pic>
        <p:nvPicPr>
          <p:cNvPr id="5" name="Picture 4" descr="diagram_preprocessing_pipeline.png"/>
          <p:cNvPicPr>
            <a:picLocks noChangeAspect="1"/>
          </p:cNvPicPr>
          <p:nvPr/>
        </p:nvPicPr>
        <p:blipFill>
          <a:blip r:embed="rId2"/>
          <a:stretch>
            <a:fillRect/>
          </a:stretch>
        </p:blipFill>
        <p:spPr>
          <a:xfrm>
            <a:off x="731520" y="1554480"/>
            <a:ext cx="10698480" cy="579501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Proposed Methodology: Unsupervised Anomaly Workflow</a:t>
            </a:r>
          </a:p>
        </p:txBody>
      </p:sp>
      <p:pic>
        <p:nvPicPr>
          <p:cNvPr id="5" name="Picture 4" descr="diagram_system_workflow.png"/>
          <p:cNvPicPr>
            <a:picLocks noChangeAspect="1"/>
          </p:cNvPicPr>
          <p:nvPr/>
        </p:nvPicPr>
        <p:blipFill>
          <a:blip r:embed="rId2"/>
          <a:stretch>
            <a:fillRect/>
          </a:stretch>
        </p:blipFill>
        <p:spPr>
          <a:xfrm>
            <a:off x="731520" y="1554480"/>
            <a:ext cx="10698480" cy="5349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Autoencoder Architecture: Deep Neural Network Design</a:t>
            </a:r>
          </a:p>
        </p:txBody>
      </p:sp>
      <p:pic>
        <p:nvPicPr>
          <p:cNvPr id="5" name="Picture 4" descr="diagram_autoencoder_architecture.png"/>
          <p:cNvPicPr>
            <a:picLocks noChangeAspect="1"/>
          </p:cNvPicPr>
          <p:nvPr/>
        </p:nvPicPr>
        <p:blipFill>
          <a:blip r:embed="rId2"/>
          <a:stretch>
            <a:fillRect/>
          </a:stretch>
        </p:blipFill>
        <p:spPr>
          <a:xfrm>
            <a:off x="731520" y="1554480"/>
            <a:ext cx="10698480" cy="5349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Model Training &amp; Principled Threshold Calibration</a:t>
            </a:r>
          </a:p>
        </p:txBody>
      </p:sp>
      <p:sp>
        <p:nvSpPr>
          <p:cNvPr id="5" name="Rounded Rectangle 4"/>
          <p:cNvSpPr/>
          <p:nvPr/>
        </p:nvSpPr>
        <p:spPr>
          <a:xfrm>
            <a:off x="731520" y="1554480"/>
            <a:ext cx="521208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846320" cy="365760"/>
          </a:xfrm>
          <a:prstGeom prst="rect">
            <a:avLst/>
          </a:prstGeom>
          <a:noFill/>
        </p:spPr>
        <p:txBody>
          <a:bodyPr wrap="none">
            <a:spAutoFit/>
          </a:bodyPr>
          <a:lstStyle/>
          <a:p>
            <a:pPr>
              <a:defRPr sz="1300" b="1">
                <a:solidFill>
                  <a:srgbClr val="38BDF8"/>
                </a:solidFill>
              </a:defRPr>
            </a:pPr>
            <a:r>
              <a:t>Training &amp; Validation Loss Convergence</a:t>
            </a:r>
          </a:p>
        </p:txBody>
      </p:sp>
      <p:pic>
        <p:nvPicPr>
          <p:cNvPr id="7" name="Picture 6" descr="loss_curve.png"/>
          <p:cNvPicPr>
            <a:picLocks noChangeAspect="1"/>
          </p:cNvPicPr>
          <p:nvPr/>
        </p:nvPicPr>
        <p:blipFill>
          <a:blip r:embed="rId2"/>
          <a:stretch>
            <a:fillRect/>
          </a:stretch>
        </p:blipFill>
        <p:spPr>
          <a:xfrm>
            <a:off x="914400" y="2103120"/>
            <a:ext cx="4846320" cy="2692400"/>
          </a:xfrm>
          <a:prstGeom prst="rect">
            <a:avLst/>
          </a:prstGeom>
        </p:spPr>
      </p:pic>
      <p:sp>
        <p:nvSpPr>
          <p:cNvPr id="8" name="Rounded Rectangle 7"/>
          <p:cNvSpPr/>
          <p:nvPr/>
        </p:nvSpPr>
        <p:spPr>
          <a:xfrm>
            <a:off x="6217920" y="1554480"/>
            <a:ext cx="521208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4846320" cy="365760"/>
          </a:xfrm>
          <a:prstGeom prst="rect">
            <a:avLst/>
          </a:prstGeom>
          <a:noFill/>
        </p:spPr>
        <p:txBody>
          <a:bodyPr wrap="none">
            <a:spAutoFit/>
          </a:bodyPr>
          <a:lstStyle/>
          <a:p>
            <a:pPr>
              <a:defRPr sz="1300" b="1">
                <a:solidFill>
                  <a:srgbClr val="38BDF8"/>
                </a:solidFill>
              </a:defRPr>
            </a:pPr>
            <a:r>
              <a:t>Threshold Calibration (Validation P95)</a:t>
            </a:r>
          </a:p>
        </p:txBody>
      </p:sp>
      <p:pic>
        <p:nvPicPr>
          <p:cNvPr id="10" name="Picture 9" descr="anomaly_threshold.png"/>
          <p:cNvPicPr>
            <a:picLocks noChangeAspect="1"/>
          </p:cNvPicPr>
          <p:nvPr/>
        </p:nvPicPr>
        <p:blipFill>
          <a:blip r:embed="rId3"/>
          <a:stretch>
            <a:fillRect/>
          </a:stretch>
        </p:blipFill>
        <p:spPr>
          <a:xfrm>
            <a:off x="6400800" y="2103120"/>
            <a:ext cx="4846320" cy="290779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Reconstruction Error Analysis: Normal vs Attack Separation</a:t>
            </a:r>
          </a:p>
        </p:txBody>
      </p:sp>
      <p:sp>
        <p:nvSpPr>
          <p:cNvPr id="5" name="Rounded Rectangle 4"/>
          <p:cNvSpPr/>
          <p:nvPr/>
        </p:nvSpPr>
        <p:spPr>
          <a:xfrm>
            <a:off x="731520" y="1554480"/>
            <a:ext cx="493776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572000" cy="365760"/>
          </a:xfrm>
          <a:prstGeom prst="rect">
            <a:avLst/>
          </a:prstGeom>
          <a:noFill/>
        </p:spPr>
        <p:txBody>
          <a:bodyPr wrap="none">
            <a:spAutoFit/>
          </a:bodyPr>
          <a:lstStyle/>
          <a:p>
            <a:pPr>
              <a:defRPr sz="1300" b="1">
                <a:solidFill>
                  <a:srgbClr val="38BDF8"/>
                </a:solidFill>
              </a:defRPr>
            </a:pPr>
            <a:r>
              <a:t>Reconstruction Error Statistics</a:t>
            </a:r>
          </a:p>
        </p:txBody>
      </p:sp>
      <p:sp>
        <p:nvSpPr>
          <p:cNvPr id="7" name="TextBox 6"/>
          <p:cNvSpPr txBox="1"/>
          <p:nvPr/>
        </p:nvSpPr>
        <p:spPr>
          <a:xfrm>
            <a:off x="914400" y="2011680"/>
            <a:ext cx="4572000" cy="4114800"/>
          </a:xfrm>
          <a:prstGeom prst="rect">
            <a:avLst/>
          </a:prstGeom>
          <a:noFill/>
        </p:spPr>
        <p:txBody>
          <a:bodyPr wrap="square">
            <a:spAutoFit/>
          </a:bodyPr>
          <a:lstStyle/>
          <a:p/>
          <a:p>
            <a:pPr>
              <a:spcAft>
                <a:spcPts val="400"/>
              </a:spcAft>
            </a:pPr>
            <a:r>
              <a:rPr b="1" sz="1100">
                <a:solidFill>
                  <a:srgbClr val="38BDF8"/>
                </a:solidFill>
              </a:rPr>
              <a:t>• Normal Median MSE: </a:t>
            </a:r>
            <a:r>
              <a:rPr b="0" sz="1100">
                <a:solidFill>
                  <a:srgbClr val="F8FAFC"/>
                </a:solidFill>
              </a:rPr>
              <a:t>0.003158</a:t>
            </a:r>
          </a:p>
          <a:p>
            <a:pPr>
              <a:spcAft>
                <a:spcPts val="400"/>
              </a:spcAft>
            </a:pPr>
            <a:r>
              <a:rPr b="1" sz="1100">
                <a:solidFill>
                  <a:srgbClr val="38BDF8"/>
                </a:solidFill>
              </a:rPr>
              <a:t>• Attack Median MSE: </a:t>
            </a:r>
            <a:r>
              <a:rPr b="1" sz="1100">
                <a:solidFill>
                  <a:srgbClr val="EF4444"/>
                </a:solidFill>
              </a:rPr>
              <a:t>0.457592</a:t>
            </a:r>
          </a:p>
          <a:p>
            <a:pPr>
              <a:spcAft>
                <a:spcPts val="400"/>
              </a:spcAft>
            </a:pPr>
            <a:r>
              <a:rPr b="1" sz="1100">
                <a:solidFill>
                  <a:srgbClr val="38BDF8"/>
                </a:solidFill>
              </a:rPr>
              <a:t>• Median Separation: </a:t>
            </a:r>
            <a:r>
              <a:rPr b="1" sz="1100">
                <a:solidFill>
                  <a:srgbClr val="10B981"/>
                </a:solidFill>
              </a:rPr>
              <a:t>144.9x Higher for Attacks</a:t>
            </a:r>
          </a:p>
          <a:p>
            <a:pPr>
              <a:spcAft>
                <a:spcPts val="400"/>
              </a:spcAft>
            </a:pPr>
            <a:r>
              <a:rPr b="1" sz="1100">
                <a:solidFill>
                  <a:srgbClr val="38BDF8"/>
                </a:solidFill>
              </a:rPr>
              <a:t>• Normal Mean MSE: </a:t>
            </a:r>
            <a:r>
              <a:rPr b="0" sz="1100">
                <a:solidFill>
                  <a:srgbClr val="F8FAFC"/>
                </a:solidFill>
              </a:rPr>
              <a:t>0.038540</a:t>
            </a:r>
          </a:p>
          <a:p>
            <a:pPr>
              <a:spcAft>
                <a:spcPts val="400"/>
              </a:spcAft>
            </a:pPr>
            <a:r>
              <a:rPr b="1" sz="1100">
                <a:solidFill>
                  <a:srgbClr val="38BDF8"/>
                </a:solidFill>
              </a:rPr>
              <a:t>• Attack Mean MSE: </a:t>
            </a:r>
            <a:r>
              <a:rPr b="1" sz="1100">
                <a:solidFill>
                  <a:srgbClr val="EF4444"/>
                </a:solidFill>
              </a:rPr>
              <a:t>0.963125</a:t>
            </a:r>
          </a:p>
          <a:p>
            <a:pPr>
              <a:spcAft>
                <a:spcPts val="400"/>
              </a:spcAft>
            </a:pPr>
            <a:r>
              <a:rPr b="1" sz="1100">
                <a:solidFill>
                  <a:srgbClr val="38BDF8"/>
                </a:solidFill>
              </a:rPr>
              <a:t>• Normal P95 MSE: </a:t>
            </a:r>
            <a:r>
              <a:rPr b="0" sz="1100">
                <a:solidFill>
                  <a:srgbClr val="F8FAFC"/>
                </a:solidFill>
              </a:rPr>
              <a:t>0.112638 (Below 0.1291 threshold)</a:t>
            </a:r>
          </a:p>
          <a:p>
            <a:pPr>
              <a:spcAft>
                <a:spcPts val="400"/>
              </a:spcAft>
            </a:pPr>
            <a:r>
              <a:rPr b="1" sz="1100">
                <a:solidFill>
                  <a:srgbClr val="38BDF8"/>
                </a:solidFill>
              </a:rPr>
              <a:t>• Attack P95 MSE: </a:t>
            </a:r>
            <a:r>
              <a:rPr b="1" sz="1100">
                <a:solidFill>
                  <a:srgbClr val="EF4444"/>
                </a:solidFill>
              </a:rPr>
              <a:t>1.578233 (12.2x above threshold)</a:t>
            </a:r>
          </a:p>
          <a:p>
            <a:pPr>
              <a:spcAft>
                <a:spcPts val="400"/>
              </a:spcAft>
            </a:pPr>
            <a:r>
              <a:rPr b="1" sz="1100">
                <a:solidFill>
                  <a:srgbClr val="38BDF8"/>
                </a:solidFill>
              </a:rPr>
              <a:t>• Separation Principle: </a:t>
            </a:r>
            <a:r>
              <a:rPr b="1" sz="1100">
                <a:solidFill>
                  <a:srgbClr val="38BDF8"/>
                </a:solidFill>
              </a:rPr>
              <a:t>Attacks violate normal feature correlations, yielding high reconstruction penalties.</a:t>
            </a:r>
          </a:p>
        </p:txBody>
      </p:sp>
      <p:sp>
        <p:nvSpPr>
          <p:cNvPr id="8" name="Rounded Rectangle 7"/>
          <p:cNvSpPr/>
          <p:nvPr/>
        </p:nvSpPr>
        <p:spPr>
          <a:xfrm>
            <a:off x="5943600" y="1554480"/>
            <a:ext cx="548640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691640"/>
            <a:ext cx="5120640" cy="365760"/>
          </a:xfrm>
          <a:prstGeom prst="rect">
            <a:avLst/>
          </a:prstGeom>
          <a:noFill/>
        </p:spPr>
        <p:txBody>
          <a:bodyPr wrap="none">
            <a:spAutoFit/>
          </a:bodyPr>
          <a:lstStyle/>
          <a:p>
            <a:pPr>
              <a:defRPr sz="1300" b="1">
                <a:solidFill>
                  <a:srgbClr val="38BDF8"/>
                </a:solidFill>
              </a:defRPr>
            </a:pPr>
            <a:r>
              <a:t>Empirical Error Distribution</a:t>
            </a:r>
          </a:p>
        </p:txBody>
      </p:sp>
      <p:pic>
        <p:nvPicPr>
          <p:cNvPr id="10" name="Picture 9" descr="reconstruction_error_normal_vs_attack.png"/>
          <p:cNvPicPr>
            <a:picLocks noChangeAspect="1"/>
          </p:cNvPicPr>
          <p:nvPr/>
        </p:nvPicPr>
        <p:blipFill>
          <a:blip r:embed="rId2"/>
          <a:stretch>
            <a:fillRect/>
          </a:stretch>
        </p:blipFill>
        <p:spPr>
          <a:xfrm>
            <a:off x="6126480" y="2103120"/>
            <a:ext cx="5120640" cy="34137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Final Model Performance: Validated KDDTest+ Benchmark</a:t>
            </a:r>
          </a:p>
        </p:txBody>
      </p:sp>
      <p:sp>
        <p:nvSpPr>
          <p:cNvPr id="5" name="Rounded Rectangle 4"/>
          <p:cNvSpPr/>
          <p:nvPr/>
        </p:nvSpPr>
        <p:spPr>
          <a:xfrm>
            <a:off x="731520" y="1554480"/>
            <a:ext cx="2560320" cy="16459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91640"/>
            <a:ext cx="2560320" cy="1371600"/>
          </a:xfrm>
          <a:prstGeom prst="rect">
            <a:avLst/>
          </a:prstGeom>
          <a:noFill/>
        </p:spPr>
        <p:txBody>
          <a:bodyPr wrap="square">
            <a:spAutoFit/>
          </a:bodyPr>
          <a:lstStyle/>
          <a:p>
            <a:pPr algn="ctr">
              <a:defRPr sz="2800" b="1">
                <a:solidFill>
                  <a:srgbClr val="38BDF8"/>
                </a:solidFill>
              </a:defRPr>
            </a:pPr>
            <a:r>
              <a:t>83.35%</a:t>
            </a:r>
          </a:p>
          <a:p>
            <a:pPr algn="ctr">
              <a:defRPr sz="1100" b="1">
                <a:solidFill>
                  <a:srgbClr val="F8FAFC"/>
                </a:solidFill>
              </a:defRPr>
            </a:pPr>
            <a:r>
              <a:t>ACCURACY</a:t>
            </a:r>
          </a:p>
          <a:p>
            <a:pPr algn="ctr">
              <a:defRPr sz="900">
                <a:solidFill>
                  <a:srgbClr val="94A3B8"/>
                </a:solidFill>
              </a:defRPr>
            </a:pPr>
            <a:r>
              <a:t>18,791 / 22,544 Correct</a:t>
            </a:r>
          </a:p>
        </p:txBody>
      </p:sp>
      <p:sp>
        <p:nvSpPr>
          <p:cNvPr id="7" name="Rounded Rectangle 6"/>
          <p:cNvSpPr/>
          <p:nvPr/>
        </p:nvSpPr>
        <p:spPr>
          <a:xfrm>
            <a:off x="3429000" y="1554480"/>
            <a:ext cx="2560320" cy="16459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691640"/>
            <a:ext cx="2560320" cy="1371600"/>
          </a:xfrm>
          <a:prstGeom prst="rect">
            <a:avLst/>
          </a:prstGeom>
          <a:noFill/>
        </p:spPr>
        <p:txBody>
          <a:bodyPr wrap="square">
            <a:spAutoFit/>
          </a:bodyPr>
          <a:lstStyle/>
          <a:p>
            <a:pPr algn="ctr">
              <a:defRPr sz="2800" b="1">
                <a:solidFill>
                  <a:srgbClr val="10B981"/>
                </a:solidFill>
              </a:defRPr>
            </a:pPr>
            <a:r>
              <a:t>96.05%</a:t>
            </a:r>
          </a:p>
          <a:p>
            <a:pPr algn="ctr">
              <a:defRPr sz="1100" b="1">
                <a:solidFill>
                  <a:srgbClr val="F8FAFC"/>
                </a:solidFill>
              </a:defRPr>
            </a:pPr>
            <a:r>
              <a:t>PRECISION</a:t>
            </a:r>
          </a:p>
          <a:p>
            <a:pPr algn="ctr">
              <a:defRPr sz="900">
                <a:solidFill>
                  <a:srgbClr val="94A3B8"/>
                </a:solidFill>
              </a:defRPr>
            </a:pPr>
            <a:r>
              <a:t>Low False Alarms (9,469 / 9,858)</a:t>
            </a:r>
          </a:p>
        </p:txBody>
      </p:sp>
      <p:sp>
        <p:nvSpPr>
          <p:cNvPr id="9" name="Rounded Rectangle 8"/>
          <p:cNvSpPr/>
          <p:nvPr/>
        </p:nvSpPr>
        <p:spPr>
          <a:xfrm>
            <a:off x="6126480" y="1554480"/>
            <a:ext cx="2560320" cy="1645920"/>
          </a:xfrm>
          <a:prstGeom prst="roundRect">
            <a:avLst/>
          </a:prstGeom>
          <a:solidFill>
            <a:srgbClr val="1E29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691640"/>
            <a:ext cx="2560320" cy="1371600"/>
          </a:xfrm>
          <a:prstGeom prst="rect">
            <a:avLst/>
          </a:prstGeom>
          <a:noFill/>
        </p:spPr>
        <p:txBody>
          <a:bodyPr wrap="square">
            <a:spAutoFit/>
          </a:bodyPr>
          <a:lstStyle/>
          <a:p>
            <a:pPr algn="ctr">
              <a:defRPr sz="2800" b="1">
                <a:solidFill>
                  <a:srgbClr val="A855F7"/>
                </a:solidFill>
              </a:defRPr>
            </a:pPr>
            <a:r>
              <a:t>73.79%</a:t>
            </a:r>
          </a:p>
          <a:p>
            <a:pPr algn="ctr">
              <a:defRPr sz="1100" b="1">
                <a:solidFill>
                  <a:srgbClr val="F8FAFC"/>
                </a:solidFill>
              </a:defRPr>
            </a:pPr>
            <a:r>
              <a:t>RECALL</a:t>
            </a:r>
          </a:p>
          <a:p>
            <a:pPr algn="ctr">
              <a:defRPr sz="900">
                <a:solidFill>
                  <a:srgbClr val="94A3B8"/>
                </a:solidFill>
              </a:defRPr>
            </a:pPr>
            <a:r>
              <a:t>9,469 / 12,833 Attacks Flagged</a:t>
            </a:r>
          </a:p>
        </p:txBody>
      </p:sp>
      <p:sp>
        <p:nvSpPr>
          <p:cNvPr id="11" name="Rounded Rectangle 10"/>
          <p:cNvSpPr/>
          <p:nvPr/>
        </p:nvSpPr>
        <p:spPr>
          <a:xfrm>
            <a:off x="8823960" y="1554480"/>
            <a:ext cx="2560320" cy="16459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23960" y="1691640"/>
            <a:ext cx="2560320" cy="1371600"/>
          </a:xfrm>
          <a:prstGeom prst="rect">
            <a:avLst/>
          </a:prstGeom>
          <a:noFill/>
        </p:spPr>
        <p:txBody>
          <a:bodyPr wrap="square">
            <a:spAutoFit/>
          </a:bodyPr>
          <a:lstStyle/>
          <a:p>
            <a:pPr algn="ctr">
              <a:defRPr sz="2800" b="1">
                <a:solidFill>
                  <a:srgbClr val="38BDF8"/>
                </a:solidFill>
              </a:defRPr>
            </a:pPr>
            <a:r>
              <a:t>83.46%</a:t>
            </a:r>
          </a:p>
          <a:p>
            <a:pPr algn="ctr">
              <a:defRPr sz="1100" b="1">
                <a:solidFill>
                  <a:srgbClr val="F8FAFC"/>
                </a:solidFill>
              </a:defRPr>
            </a:pPr>
            <a:r>
              <a:t>F1 SCORE</a:t>
            </a:r>
          </a:p>
          <a:p>
            <a:pPr algn="ctr">
              <a:defRPr sz="900">
                <a:solidFill>
                  <a:srgbClr val="94A3B8"/>
                </a:solidFill>
              </a:defRPr>
            </a:pPr>
            <a:r>
              <a:t>Harmonic Mean Balance</a:t>
            </a:r>
          </a:p>
        </p:txBody>
      </p:sp>
      <p:sp>
        <p:nvSpPr>
          <p:cNvPr id="13" name="Rounded Rectangle 12"/>
          <p:cNvSpPr/>
          <p:nvPr/>
        </p:nvSpPr>
        <p:spPr>
          <a:xfrm>
            <a:off x="731520" y="3474720"/>
            <a:ext cx="10698480" cy="28346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611880"/>
            <a:ext cx="10332720" cy="365760"/>
          </a:xfrm>
          <a:prstGeom prst="rect">
            <a:avLst/>
          </a:prstGeom>
          <a:noFill/>
        </p:spPr>
        <p:txBody>
          <a:bodyPr wrap="none">
            <a:spAutoFit/>
          </a:bodyPr>
          <a:lstStyle/>
          <a:p>
            <a:pPr>
              <a:defRPr sz="1300" b="1">
                <a:solidFill>
                  <a:srgbClr val="38BDF8"/>
                </a:solidFill>
              </a:defRPr>
            </a:pPr>
            <a:r>
              <a:t>Comprehensive Evaluation Metrics Summary</a:t>
            </a:r>
          </a:p>
        </p:txBody>
      </p:sp>
      <p:sp>
        <p:nvSpPr>
          <p:cNvPr id="15" name="TextBox 14"/>
          <p:cNvSpPr txBox="1"/>
          <p:nvPr/>
        </p:nvSpPr>
        <p:spPr>
          <a:xfrm>
            <a:off x="1005840" y="3931920"/>
            <a:ext cx="10149840" cy="2194560"/>
          </a:xfrm>
          <a:prstGeom prst="rect">
            <a:avLst/>
          </a:prstGeom>
          <a:noFill/>
        </p:spPr>
        <p:txBody>
          <a:bodyPr wrap="square">
            <a:spAutoFit/>
          </a:bodyPr>
          <a:lstStyle/>
          <a:p/>
          <a:p>
            <a:pPr>
              <a:spcAft>
                <a:spcPts val="400"/>
              </a:spcAft>
            </a:pPr>
            <a:r>
              <a:rPr b="1" sz="1200">
                <a:solidFill>
                  <a:srgbClr val="38BDF8"/>
                </a:solidFill>
              </a:rPr>
              <a:t>• ROC-AUC Score               : </a:t>
            </a:r>
            <a:r>
              <a:rPr b="1" sz="1200">
                <a:solidFill>
                  <a:srgbClr val="10B981"/>
                </a:solidFill>
              </a:rPr>
              <a:t>95.70%      —  </a:t>
            </a:r>
            <a:r>
              <a:rPr sz="1100">
                <a:solidFill>
                  <a:srgbClr val="F8FAFC"/>
                </a:solidFill>
              </a:rPr>
              <a:t>Evaluated continuously across all operating thresholds (Phase 10 confirmed).</a:t>
            </a:r>
          </a:p>
          <a:p>
            <a:pPr>
              <a:spcAft>
                <a:spcPts val="400"/>
              </a:spcAft>
            </a:pPr>
            <a:r>
              <a:rPr b="1" sz="1200">
                <a:solidFill>
                  <a:srgbClr val="38BDF8"/>
                </a:solidFill>
              </a:rPr>
              <a:t>• False Positive Rate (FPR)   : </a:t>
            </a:r>
            <a:r>
              <a:rPr b="1" sz="1200">
                <a:solidFill>
                  <a:srgbClr val="10B981"/>
                </a:solidFill>
              </a:rPr>
              <a:t>4.01%       —  </a:t>
            </a:r>
            <a:r>
              <a:rPr sz="1100">
                <a:solidFill>
                  <a:srgbClr val="F8FAFC"/>
                </a:solidFill>
              </a:rPr>
              <a:t>389 / 9,711 benign test records flagged; closely tracks the 5% validation calibration target.</a:t>
            </a:r>
          </a:p>
          <a:p>
            <a:pPr>
              <a:spcAft>
                <a:spcPts val="400"/>
              </a:spcAft>
            </a:pPr>
            <a:r>
              <a:rPr b="1" sz="1200">
                <a:solidFill>
                  <a:srgbClr val="38BDF8"/>
                </a:solidFill>
              </a:rPr>
              <a:t>• Specificity (TNR)           : </a:t>
            </a:r>
            <a:r>
              <a:rPr b="1" sz="1200">
                <a:solidFill>
                  <a:srgbClr val="10B981"/>
                </a:solidFill>
              </a:rPr>
              <a:t>95.99%      —  </a:t>
            </a:r>
            <a:r>
              <a:rPr sz="1100">
                <a:solidFill>
                  <a:srgbClr val="F8FAFC"/>
                </a:solidFill>
              </a:rPr>
              <a:t>9,322 / 9,711 normal connections correctly permitted without disruption.</a:t>
            </a:r>
          </a:p>
          <a:p>
            <a:pPr>
              <a:spcAft>
                <a:spcPts val="400"/>
              </a:spcAft>
            </a:pPr>
            <a:r>
              <a:rPr b="1" sz="1200">
                <a:solidFill>
                  <a:srgbClr val="38BDF8"/>
                </a:solidFill>
              </a:rPr>
              <a:t>• Benchmark Integrity         : </a:t>
            </a:r>
            <a:r>
              <a:rPr b="1" sz="1200">
                <a:solidFill>
                  <a:srgbClr val="10B981"/>
                </a:solidFill>
              </a:rPr>
              <a:t>Zero Leakage  —  </a:t>
            </a:r>
            <a:r>
              <a:rPr sz="1100">
                <a:solidFill>
                  <a:srgbClr val="F8FAFC"/>
                </a:solidFill>
              </a:rPr>
              <a:t>Evaluated strictly on untouched KDDTest+ without retraining, tuning, or threshold alterations.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Confusion Matrix &amp; Receiver Operating Characteristic</a:t>
            </a:r>
          </a:p>
        </p:txBody>
      </p:sp>
      <p:sp>
        <p:nvSpPr>
          <p:cNvPr id="5" name="Rounded Rectangle 4"/>
          <p:cNvSpPr/>
          <p:nvPr/>
        </p:nvSpPr>
        <p:spPr>
          <a:xfrm>
            <a:off x="731520" y="1554480"/>
            <a:ext cx="521208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846320" cy="365760"/>
          </a:xfrm>
          <a:prstGeom prst="rect">
            <a:avLst/>
          </a:prstGeom>
          <a:noFill/>
        </p:spPr>
        <p:txBody>
          <a:bodyPr wrap="none">
            <a:spAutoFit/>
          </a:bodyPr>
          <a:lstStyle/>
          <a:p>
            <a:pPr>
              <a:defRPr sz="1300" b="1">
                <a:solidFill>
                  <a:srgbClr val="38BDF8"/>
                </a:solidFill>
              </a:defRPr>
            </a:pPr>
            <a:r>
              <a:t>Confusion Matrix (KDDTest+)</a:t>
            </a:r>
          </a:p>
        </p:txBody>
      </p:sp>
      <p:pic>
        <p:nvPicPr>
          <p:cNvPr id="7" name="Picture 6" descr="confusion_matrix.png"/>
          <p:cNvPicPr>
            <a:picLocks noChangeAspect="1"/>
          </p:cNvPicPr>
          <p:nvPr/>
        </p:nvPicPr>
        <p:blipFill>
          <a:blip r:embed="rId2"/>
          <a:stretch>
            <a:fillRect/>
          </a:stretch>
        </p:blipFill>
        <p:spPr>
          <a:xfrm>
            <a:off x="914400" y="2103120"/>
            <a:ext cx="4846320" cy="3937635"/>
          </a:xfrm>
          <a:prstGeom prst="rect">
            <a:avLst/>
          </a:prstGeom>
        </p:spPr>
      </p:pic>
      <p:sp>
        <p:nvSpPr>
          <p:cNvPr id="8" name="Rounded Rectangle 7"/>
          <p:cNvSpPr/>
          <p:nvPr/>
        </p:nvSpPr>
        <p:spPr>
          <a:xfrm>
            <a:off x="6217920" y="1554480"/>
            <a:ext cx="521208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4846320" cy="365760"/>
          </a:xfrm>
          <a:prstGeom prst="rect">
            <a:avLst/>
          </a:prstGeom>
          <a:noFill/>
        </p:spPr>
        <p:txBody>
          <a:bodyPr wrap="none">
            <a:spAutoFit/>
          </a:bodyPr>
          <a:lstStyle/>
          <a:p>
            <a:pPr>
              <a:defRPr sz="1300" b="1">
                <a:solidFill>
                  <a:srgbClr val="38BDF8"/>
                </a:solidFill>
              </a:defRPr>
            </a:pPr>
            <a:r>
              <a:t>ROC Curve (AUC = 95.70%)</a:t>
            </a:r>
          </a:p>
        </p:txBody>
      </p:sp>
      <p:pic>
        <p:nvPicPr>
          <p:cNvPr id="10" name="Picture 9" descr="roc_curve.png"/>
          <p:cNvPicPr>
            <a:picLocks noChangeAspect="1"/>
          </p:cNvPicPr>
          <p:nvPr/>
        </p:nvPicPr>
        <p:blipFill>
          <a:blip r:embed="rId3"/>
          <a:stretch>
            <a:fillRect/>
          </a:stretch>
        </p:blipFill>
        <p:spPr>
          <a:xfrm>
            <a:off x="6400800" y="2103120"/>
            <a:ext cx="4846320" cy="393763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Attack-Family Breakdown &amp; Granular Error Diagnostics</a:t>
            </a:r>
          </a:p>
        </p:txBody>
      </p:sp>
      <p:sp>
        <p:nvSpPr>
          <p:cNvPr id="5" name="Rounded Rectangle 4"/>
          <p:cNvSpPr/>
          <p:nvPr/>
        </p:nvSpPr>
        <p:spPr>
          <a:xfrm>
            <a:off x="731520" y="1554480"/>
            <a:ext cx="512064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65760"/>
          </a:xfrm>
          <a:prstGeom prst="rect">
            <a:avLst/>
          </a:prstGeom>
          <a:noFill/>
        </p:spPr>
        <p:txBody>
          <a:bodyPr wrap="none">
            <a:spAutoFit/>
          </a:bodyPr>
          <a:lstStyle/>
          <a:p>
            <a:pPr>
              <a:defRPr sz="1300" b="1">
                <a:solidFill>
                  <a:srgbClr val="38BDF8"/>
                </a:solidFill>
              </a:defRPr>
            </a:pPr>
            <a:r>
              <a:t>Detection Rates by Attack Family</a:t>
            </a:r>
          </a:p>
        </p:txBody>
      </p:sp>
      <p:sp>
        <p:nvSpPr>
          <p:cNvPr id="7" name="TextBox 6"/>
          <p:cNvSpPr txBox="1"/>
          <p:nvPr/>
        </p:nvSpPr>
        <p:spPr>
          <a:xfrm>
            <a:off x="914400" y="2011680"/>
            <a:ext cx="4754880" cy="4114800"/>
          </a:xfrm>
          <a:prstGeom prst="rect">
            <a:avLst/>
          </a:prstGeom>
          <a:noFill/>
        </p:spPr>
        <p:txBody>
          <a:bodyPr wrap="square">
            <a:spAutoFit/>
          </a:bodyPr>
          <a:lstStyle/>
          <a:p/>
          <a:p>
            <a:pPr>
              <a:spcAft>
                <a:spcPts val="400"/>
              </a:spcAft>
            </a:pPr>
            <a:r>
              <a:rPr b="1" sz="1100">
                <a:solidFill>
                  <a:srgbClr val="38BDF8"/>
                </a:solidFill>
              </a:rPr>
              <a:t>• DoS Attacks: </a:t>
            </a:r>
            <a:r>
              <a:rPr b="1" sz="1050">
                <a:solidFill>
                  <a:srgbClr val="10B981"/>
                </a:solidFill>
              </a:rPr>
              <a:t>84.37% Recall (6,292 / 7,458)
   </a:t>
            </a:r>
            <a:r>
              <a:rPr sz="950">
                <a:solidFill>
                  <a:srgbClr val="94A3B8"/>
                </a:solidFill>
              </a:rPr>
              <a:t>Volumetric floods (Neptune, Apache2) cause massive connection rate anomalies; mean MSE = 0.6511.</a:t>
            </a:r>
          </a:p>
          <a:p>
            <a:pPr>
              <a:spcAft>
                <a:spcPts val="400"/>
              </a:spcAft>
            </a:pPr>
            <a:r>
              <a:rPr b="1" sz="1100">
                <a:solidFill>
                  <a:srgbClr val="38BDF8"/>
                </a:solidFill>
              </a:rPr>
              <a:t>• Probe Attacks: </a:t>
            </a:r>
            <a:r>
              <a:rPr b="1" sz="1050">
                <a:solidFill>
                  <a:srgbClr val="10B981"/>
                </a:solidFill>
              </a:rPr>
              <a:t>81.54% Recall (1,974 / 2,421)
   </a:t>
            </a:r>
            <a:r>
              <a:rPr sz="950">
                <a:solidFill>
                  <a:srgbClr val="94A3B8"/>
                </a:solidFill>
              </a:rPr>
              <a:t>Network scanning (Portsweep, Mscan) perturbs destination host distributions; mean MSE = 0.7465.</a:t>
            </a:r>
          </a:p>
          <a:p>
            <a:pPr>
              <a:spcAft>
                <a:spcPts val="400"/>
              </a:spcAft>
            </a:pPr>
            <a:r>
              <a:rPr b="1" sz="1100">
                <a:solidFill>
                  <a:srgbClr val="38BDF8"/>
                </a:solidFill>
              </a:rPr>
              <a:t>• U2R Attacks: </a:t>
            </a:r>
            <a:r>
              <a:rPr b="1" sz="1050">
                <a:solidFill>
                  <a:srgbClr val="F8FAFC"/>
                </a:solidFill>
              </a:rPr>
              <a:t>65.67% Recall (44 / 67)
   </a:t>
            </a:r>
            <a:r>
              <a:rPr sz="950">
                <a:solidFill>
                  <a:srgbClr val="94A3B8"/>
                </a:solidFill>
              </a:rPr>
              <a:t>Privilege escalation attempts incur severe structural reconstruction penalties; mean MSE = 30.2773.</a:t>
            </a:r>
          </a:p>
          <a:p>
            <a:pPr>
              <a:spcAft>
                <a:spcPts val="400"/>
              </a:spcAft>
            </a:pPr>
            <a:r>
              <a:rPr b="1" sz="1100">
                <a:solidFill>
                  <a:srgbClr val="38BDF8"/>
                </a:solidFill>
              </a:rPr>
              <a:t>• R2L Attacks: </a:t>
            </a:r>
            <a:r>
              <a:rPr b="1" sz="1050">
                <a:solidFill>
                  <a:srgbClr val="EF4444"/>
                </a:solidFill>
              </a:rPr>
              <a:t>40.15% Recall (1,159 / 2,887)
   </a:t>
            </a:r>
            <a:r>
              <a:rPr sz="950">
                <a:solidFill>
                  <a:srgbClr val="94A3B8"/>
                </a:solidFill>
              </a:rPr>
              <a:t>HARDEST FAMILY: Interactive password guessing (Guess_passwd) mimics valid user sessions at the header level; median MSE = 0.0435.</a:t>
            </a:r>
          </a:p>
          <a:p>
            <a:pPr>
              <a:spcAft>
                <a:spcPts val="400"/>
              </a:spcAft>
            </a:pPr>
            <a:r>
              <a:rPr b="1" sz="1100">
                <a:solidFill>
                  <a:srgbClr val="38BDF8"/>
                </a:solidFill>
              </a:rPr>
              <a:t>• Error Distribution: </a:t>
            </a:r>
            <a:r>
              <a:rPr b="1" sz="1050">
                <a:solidFill>
                  <a:srgbClr val="F8FAFC"/>
                </a:solidFill>
              </a:rPr>
              <a:t>3,364 Total Missed (FN)
   </a:t>
            </a:r>
            <a:r>
              <a:rPr sz="950">
                <a:solidFill>
                  <a:srgbClr val="94A3B8"/>
                </a:solidFill>
              </a:rPr>
              <a:t>R2L accounts for 51.4% of all missed attacks due to payload-agnostic tabular feature overlap.</a:t>
            </a:r>
          </a:p>
        </p:txBody>
      </p:sp>
      <p:sp>
        <p:nvSpPr>
          <p:cNvPr id="8" name="Rounded Rectangle 7"/>
          <p:cNvSpPr/>
          <p:nvPr/>
        </p:nvSpPr>
        <p:spPr>
          <a:xfrm>
            <a:off x="6126480" y="1554480"/>
            <a:ext cx="53035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91640"/>
            <a:ext cx="4937760" cy="365760"/>
          </a:xfrm>
          <a:prstGeom prst="rect">
            <a:avLst/>
          </a:prstGeom>
          <a:noFill/>
        </p:spPr>
        <p:txBody>
          <a:bodyPr wrap="none">
            <a:spAutoFit/>
          </a:bodyPr>
          <a:lstStyle/>
          <a:p>
            <a:pPr>
              <a:defRPr sz="1300" b="1">
                <a:solidFill>
                  <a:srgbClr val="38BDF8"/>
                </a:solidFill>
              </a:defRPr>
            </a:pPr>
            <a:r>
              <a:t>Empirical Detection Rates vs Specificity</a:t>
            </a:r>
          </a:p>
        </p:txBody>
      </p:sp>
      <p:pic>
        <p:nvPicPr>
          <p:cNvPr id="10" name="Picture 9" descr="attack_detection_rate_comparison.png"/>
          <p:cNvPicPr>
            <a:picLocks noChangeAspect="1"/>
          </p:cNvPicPr>
          <p:nvPr/>
        </p:nvPicPr>
        <p:blipFill>
          <a:blip r:embed="rId2"/>
          <a:stretch>
            <a:fillRect/>
          </a:stretch>
        </p:blipFill>
        <p:spPr>
          <a:xfrm>
            <a:off x="6309360" y="2103120"/>
            <a:ext cx="4937760" cy="3017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Interactive Deployment: Streamlit NIDS Web Application</a:t>
            </a:r>
          </a:p>
        </p:txBody>
      </p:sp>
      <p:pic>
        <p:nvPicPr>
          <p:cNvPr id="5" name="Picture 4" descr="diagram_streamlit_workflow.png"/>
          <p:cNvPicPr>
            <a:picLocks noChangeAspect="1"/>
          </p:cNvPicPr>
          <p:nvPr/>
        </p:nvPicPr>
        <p:blipFill>
          <a:blip r:embed="rId2"/>
          <a:stretch>
            <a:fillRect/>
          </a:stretch>
        </p:blipFill>
        <p:spPr>
          <a:xfrm>
            <a:off x="731520" y="1554480"/>
            <a:ext cx="10698480" cy="579501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38BDF8"/>
                </a:solidFill>
              </a:defRPr>
            </a:pPr>
            <a:r>
              <a:t>MSC AI &amp; ML DEEP LEARNING PROJECT</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8FAFC"/>
                </a:solidFill>
              </a:defRPr>
            </a:pPr>
            <a:r>
              <a:t>Conclusions &amp; Future Research Directions</a:t>
            </a:r>
          </a:p>
        </p:txBody>
      </p:sp>
      <p:sp>
        <p:nvSpPr>
          <p:cNvPr id="5" name="Rounded Rectangle 4"/>
          <p:cNvSpPr/>
          <p:nvPr/>
        </p:nvSpPr>
        <p:spPr>
          <a:xfrm>
            <a:off x="731520" y="1554480"/>
            <a:ext cx="512064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65760"/>
          </a:xfrm>
          <a:prstGeom prst="rect">
            <a:avLst/>
          </a:prstGeom>
          <a:noFill/>
        </p:spPr>
        <p:txBody>
          <a:bodyPr wrap="none">
            <a:spAutoFit/>
          </a:bodyPr>
          <a:lstStyle/>
          <a:p>
            <a:pPr>
              <a:defRPr sz="1300" b="1">
                <a:solidFill>
                  <a:srgbClr val="38BDF8"/>
                </a:solidFill>
              </a:defRPr>
            </a:pPr>
            <a:r>
              <a:t>Research Conclusions</a:t>
            </a:r>
          </a:p>
        </p:txBody>
      </p:sp>
      <p:sp>
        <p:nvSpPr>
          <p:cNvPr id="7" name="TextBox 6"/>
          <p:cNvSpPr txBox="1"/>
          <p:nvPr/>
        </p:nvSpPr>
        <p:spPr>
          <a:xfrm>
            <a:off x="914400" y="2011680"/>
            <a:ext cx="4754880" cy="4114800"/>
          </a:xfrm>
          <a:prstGeom prst="rect">
            <a:avLst/>
          </a:prstGeom>
          <a:noFill/>
        </p:spPr>
        <p:txBody>
          <a:bodyPr wrap="square">
            <a:spAutoFit/>
          </a:bodyPr>
          <a:lstStyle/>
          <a:p/>
          <a:p>
            <a:pPr>
              <a:spcAft>
                <a:spcPts val="600"/>
              </a:spcAft>
            </a:pPr>
            <a:r>
              <a:rPr b="1" sz="1150">
                <a:solidFill>
                  <a:srgbClr val="10B981"/>
                </a:solidFill>
              </a:rPr>
              <a:t>• Unsupervised Viability: </a:t>
            </a:r>
            <a:r>
              <a:rPr sz="1100">
                <a:solidFill>
                  <a:srgbClr val="F8FAFC"/>
                </a:solidFill>
              </a:rPr>
              <a:t>Dense Autoencoders successfully establish a normal behavioral baseline using benign-only training data.</a:t>
            </a:r>
          </a:p>
          <a:p>
            <a:pPr>
              <a:spcAft>
                <a:spcPts val="600"/>
              </a:spcAft>
            </a:pPr>
            <a:r>
              <a:rPr b="1" sz="1150">
                <a:solidFill>
                  <a:srgbClr val="10B981"/>
                </a:solidFill>
              </a:rPr>
              <a:t>• High Generalization Precision: </a:t>
            </a:r>
            <a:r>
              <a:rPr sz="1100">
                <a:solidFill>
                  <a:srgbClr val="F8FAFC"/>
                </a:solidFill>
              </a:rPr>
              <a:t>Achieved 96.05% precision and 83.35% accuracy on 22,544 untouched test connections.</a:t>
            </a:r>
          </a:p>
          <a:p>
            <a:pPr>
              <a:spcAft>
                <a:spcPts val="600"/>
              </a:spcAft>
            </a:pPr>
            <a:r>
              <a:rPr b="1" sz="1150">
                <a:solidFill>
                  <a:srgbClr val="10B981"/>
                </a:solidFill>
              </a:rPr>
              <a:t>• Principled Calibration: </a:t>
            </a:r>
            <a:r>
              <a:rPr sz="1100">
                <a:solidFill>
                  <a:srgbClr val="F8FAFC"/>
                </a:solidFill>
              </a:rPr>
              <a:t>Deriving the decision threshold from the validation 95th percentile constrained test FPR to 4.01%.</a:t>
            </a:r>
          </a:p>
          <a:p>
            <a:pPr>
              <a:spcAft>
                <a:spcPts val="600"/>
              </a:spcAft>
            </a:pPr>
            <a:r>
              <a:rPr b="1" sz="1150">
                <a:solidFill>
                  <a:srgbClr val="10B981"/>
                </a:solidFill>
              </a:rPr>
              <a:t>• Discriminative Power: </a:t>
            </a:r>
            <a:r>
              <a:rPr sz="1100">
                <a:solidFill>
                  <a:srgbClr val="F8FAFC"/>
                </a:solidFill>
              </a:rPr>
              <a:t>Demonstrated 144.9x higher median reconstruction error for attacks compared to normal traffic.</a:t>
            </a:r>
          </a:p>
          <a:p>
            <a:pPr>
              <a:spcAft>
                <a:spcPts val="600"/>
              </a:spcAft>
            </a:pPr>
            <a:r>
              <a:rPr b="1" sz="1150">
                <a:solidFill>
                  <a:srgbClr val="10B981"/>
                </a:solidFill>
              </a:rPr>
              <a:t>• Operational Deployment: </a:t>
            </a:r>
            <a:r>
              <a:rPr sz="1100">
                <a:solidFill>
                  <a:srgbClr val="F8FAFC"/>
                </a:solidFill>
              </a:rPr>
              <a:t>Packaged as an interactive, explainable Streamlit application for cybersecurity workflows.</a:t>
            </a:r>
          </a:p>
        </p:txBody>
      </p:sp>
      <p:sp>
        <p:nvSpPr>
          <p:cNvPr id="8" name="Rounded Rectangle 7"/>
          <p:cNvSpPr/>
          <p:nvPr/>
        </p:nvSpPr>
        <p:spPr>
          <a:xfrm>
            <a:off x="6217920" y="1554480"/>
            <a:ext cx="521208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4846320" cy="365760"/>
          </a:xfrm>
          <a:prstGeom prst="rect">
            <a:avLst/>
          </a:prstGeom>
          <a:noFill/>
        </p:spPr>
        <p:txBody>
          <a:bodyPr wrap="none">
            <a:spAutoFit/>
          </a:bodyPr>
          <a:lstStyle/>
          <a:p>
            <a:pPr>
              <a:defRPr sz="1300" b="1">
                <a:solidFill>
                  <a:srgbClr val="38BDF8"/>
                </a:solidFill>
              </a:defRPr>
            </a:pPr>
            <a:r>
              <a:t>Future Scope &amp; Improvements</a:t>
            </a:r>
          </a:p>
        </p:txBody>
      </p:sp>
      <p:sp>
        <p:nvSpPr>
          <p:cNvPr id="10" name="TextBox 9"/>
          <p:cNvSpPr txBox="1"/>
          <p:nvPr/>
        </p:nvSpPr>
        <p:spPr>
          <a:xfrm>
            <a:off x="6400800" y="2011680"/>
            <a:ext cx="4846320" cy="4114800"/>
          </a:xfrm>
          <a:prstGeom prst="rect">
            <a:avLst/>
          </a:prstGeom>
          <a:noFill/>
        </p:spPr>
        <p:txBody>
          <a:bodyPr wrap="square">
            <a:spAutoFit/>
          </a:bodyPr>
          <a:lstStyle/>
          <a:p/>
          <a:p>
            <a:pPr>
              <a:spcAft>
                <a:spcPts val="600"/>
              </a:spcAft>
            </a:pPr>
            <a:r>
              <a:rPr b="1" sz="1150">
                <a:solidFill>
                  <a:srgbClr val="38BDF8"/>
                </a:solidFill>
              </a:rPr>
              <a:t>• Deep Packet Inspection (DPI) Hybridization: </a:t>
            </a:r>
            <a:r>
              <a:rPr sz="1100">
                <a:solidFill>
                  <a:srgbClr val="F8FAFC"/>
                </a:solidFill>
              </a:rPr>
              <a:t>Combine tabular header autoencoders with byte-level payload NLP/CNN models to detect stealthy R2L intrusions.</a:t>
            </a:r>
          </a:p>
          <a:p>
            <a:pPr>
              <a:spcAft>
                <a:spcPts val="600"/>
              </a:spcAft>
            </a:pPr>
            <a:r>
              <a:rPr b="1" sz="1150">
                <a:solidFill>
                  <a:srgbClr val="38BDF8"/>
                </a:solidFill>
              </a:rPr>
              <a:t>• Sequential Modeling (LSTM / Transformers): </a:t>
            </a:r>
            <a:r>
              <a:rPr sz="1100">
                <a:solidFill>
                  <a:srgbClr val="F8FAFC"/>
                </a:solidFill>
              </a:rPr>
              <a:t>Capture multi-connection temporal sequences to detect low-and-slow probing campaigns across extended time windows.</a:t>
            </a:r>
          </a:p>
          <a:p>
            <a:pPr>
              <a:spcAft>
                <a:spcPts val="600"/>
              </a:spcAft>
            </a:pPr>
            <a:r>
              <a:rPr b="1" sz="1150">
                <a:solidFill>
                  <a:srgbClr val="38BDF8"/>
                </a:solidFill>
              </a:rPr>
              <a:t>• Adaptive Service-Specific Thresholding: </a:t>
            </a:r>
            <a:r>
              <a:rPr sz="1100">
                <a:solidFill>
                  <a:srgbClr val="F8FAFC"/>
                </a:solidFill>
              </a:rPr>
              <a:t>Replace single global threshold with service-conditioned cutoffs (e.g., separate thresholds for HTTP, DNS, SSH).</a:t>
            </a:r>
          </a:p>
          <a:p>
            <a:pPr>
              <a:spcAft>
                <a:spcPts val="600"/>
              </a:spcAft>
            </a:pPr>
            <a:r>
              <a:rPr b="1" sz="1150">
                <a:solidFill>
                  <a:srgbClr val="38BDF8"/>
                </a:solidFill>
              </a:rPr>
              <a:t>• Contemporary Dataset Validation: </a:t>
            </a:r>
            <a:r>
              <a:rPr sz="1100">
                <a:solidFill>
                  <a:srgbClr val="F8FAFC"/>
                </a:solidFill>
              </a:rPr>
              <a:t>Evaluate generalization on modern benchmarks like CIC-IDS2017 and CSE-CIC-IDS2018.</a:t>
            </a:r>
          </a:p>
          <a:p>
            <a:pPr>
              <a:spcAft>
                <a:spcPts val="600"/>
              </a:spcAft>
            </a:pPr>
            <a:r>
              <a:rPr b="1" sz="1150">
                <a:solidFill>
                  <a:srgbClr val="38BDF8"/>
                </a:solidFill>
              </a:rPr>
              <a:t>• Explainable AI (XAI) Attribution: </a:t>
            </a:r>
            <a:r>
              <a:rPr sz="1100">
                <a:solidFill>
                  <a:srgbClr val="F8FAFC"/>
                </a:solidFill>
              </a:rPr>
              <a:t>Integrate SHAP / Integrated Gradients to trace feature contributions to reconstruction loss.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